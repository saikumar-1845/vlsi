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18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4DB6A-4D94-480F-BA8D-25778D64926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64DCC-DDCA-4D4B-BCEA-1469B1264E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970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64DCC-DDCA-4D4B-BCEA-1469B1264E4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32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845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089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918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159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9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156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652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45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806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146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302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4802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390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637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218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859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40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A9C3F-154C-4229-810E-FD5C2D69FD56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14A6D-DAB2-4CDF-9944-03052FD71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5872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383A-79EF-8285-15A1-14A021A4A23F}"/>
              </a:ext>
            </a:extLst>
          </p:cNvPr>
          <p:cNvSpPr txBox="1">
            <a:spLocks/>
          </p:cNvSpPr>
          <p:nvPr/>
        </p:nvSpPr>
        <p:spPr>
          <a:xfrm>
            <a:off x="1336418" y="1191036"/>
            <a:ext cx="9774033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Essentials of Physical Design     			(RTL to GDSII)</a:t>
            </a:r>
            <a:endParaRPr lang="en-IN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9D01C-B46F-7829-2966-85795648D11C}"/>
              </a:ext>
            </a:extLst>
          </p:cNvPr>
          <p:cNvSpPr txBox="1">
            <a:spLocks/>
          </p:cNvSpPr>
          <p:nvPr/>
        </p:nvSpPr>
        <p:spPr>
          <a:xfrm>
            <a:off x="1503445" y="2994666"/>
            <a:ext cx="8791575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     </a:t>
            </a:r>
            <a:r>
              <a:rPr lang="en-IN" sz="2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Transforming Logic into Silicon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EF6102-6434-2397-5EF1-47F8578B1D85}"/>
              </a:ext>
            </a:extLst>
          </p:cNvPr>
          <p:cNvSpPr txBox="1"/>
          <p:nvPr/>
        </p:nvSpPr>
        <p:spPr>
          <a:xfrm>
            <a:off x="8303338" y="5260258"/>
            <a:ext cx="4601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Presented By</a:t>
            </a:r>
          </a:p>
          <a:p>
            <a:r>
              <a:rPr lang="en-IN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K.K.SAI KUMAR</a:t>
            </a:r>
          </a:p>
        </p:txBody>
      </p:sp>
    </p:spTree>
    <p:extLst>
      <p:ext uri="{BB962C8B-B14F-4D97-AF65-F5344CB8AC3E}">
        <p14:creationId xmlns:p14="http://schemas.microsoft.com/office/powerpoint/2010/main" val="2304787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D9C202-3DBC-B1F6-2FD9-9DC3F05A3D65}"/>
              </a:ext>
            </a:extLst>
          </p:cNvPr>
          <p:cNvSpPr txBox="1"/>
          <p:nvPr/>
        </p:nvSpPr>
        <p:spPr>
          <a:xfrm>
            <a:off x="1425677" y="1258528"/>
            <a:ext cx="97536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Contents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Introduction to PD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Physical Design flow overview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Synopsys EDA Tool overview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Raven Wrapper Project overview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Floorplanning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powerplanning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Placement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CTS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Routing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Filler Insertion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200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CB4B6E-59AF-DEC2-B370-306E4437F02F}"/>
              </a:ext>
            </a:extLst>
          </p:cNvPr>
          <p:cNvSpPr txBox="1"/>
          <p:nvPr/>
        </p:nvSpPr>
        <p:spPr>
          <a:xfrm>
            <a:off x="2676832" y="680573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INTRODUCTION TO PD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CEB81-0D59-0484-EC45-6FB243F3F202}"/>
              </a:ext>
            </a:extLst>
          </p:cNvPr>
          <p:cNvSpPr txBox="1"/>
          <p:nvPr/>
        </p:nvSpPr>
        <p:spPr>
          <a:xfrm>
            <a:off x="1504335" y="1356852"/>
            <a:ext cx="93013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Physical design is the stage in the VLSI (Very Large Scale Integration) design flow where the abstract logical circuit (netlist) is transformed into a geometrical layout (GDSII)that can be fabricated on silicon. </a:t>
            </a:r>
          </a:p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</a:t>
            </a: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Logical design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Blueprint (schematics, netlist).</a:t>
            </a:r>
          </a:p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Physical design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Actual construction (placement of transistors, wires,   						blocks).</a:t>
            </a: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The Goal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To ensure the chip meets </a:t>
            </a: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PPA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targets:   </a:t>
            </a:r>
          </a:p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* </a:t>
            </a: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Power: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Minimize leakage and switching power.   </a:t>
            </a:r>
          </a:p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* </a:t>
            </a: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Performance: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Meet timing requirements (Setup/Hold).   </a:t>
            </a:r>
          </a:p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* </a:t>
            </a: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Area: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Minimize the silicon footprint to reduce cost.</a:t>
            </a:r>
          </a:p>
          <a:p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IN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Tools Used- </a:t>
            </a: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EDA Tools like Synopsys ICC2, Cadence Innovus, Mentor Graphics Calibre.  - </a:t>
            </a:r>
            <a:r>
              <a:rPr lang="en-IN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These are automate </a:t>
            </a: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placement, routing, and verification.</a:t>
            </a:r>
          </a:p>
        </p:txBody>
      </p:sp>
    </p:spTree>
    <p:extLst>
      <p:ext uri="{BB962C8B-B14F-4D97-AF65-F5344CB8AC3E}">
        <p14:creationId xmlns:p14="http://schemas.microsoft.com/office/powerpoint/2010/main" val="793866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6E7C24-F89A-D2D7-CB29-5F42C6FABE46}"/>
              </a:ext>
            </a:extLst>
          </p:cNvPr>
          <p:cNvSpPr txBox="1"/>
          <p:nvPr/>
        </p:nvSpPr>
        <p:spPr>
          <a:xfrm>
            <a:off x="2411360" y="690404"/>
            <a:ext cx="6958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Physical Design flow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11C22-9783-AFA4-B3EF-3187C930FBB6}"/>
              </a:ext>
            </a:extLst>
          </p:cNvPr>
          <p:cNvSpPr txBox="1"/>
          <p:nvPr/>
        </p:nvSpPr>
        <p:spPr>
          <a:xfrm>
            <a:off x="560439" y="1616747"/>
            <a:ext cx="1153323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RTL-to-GDSII</a:t>
            </a:r>
            <a:endParaRPr lang="en-IN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Physical Design Flow(Synopsys ICC2 Based) </a:t>
            </a: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IN" sz="2000" b="1" u="sng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Design Initialization   </a:t>
            </a: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* </a:t>
            </a:r>
            <a:r>
              <a:rPr lang="en-IN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Inputs: </a:t>
            </a:r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Verilog Netlist, SDC (Constraints), UPF (Power), Libraries (NDM/DB). </a:t>
            </a: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* </a:t>
            </a:r>
            <a:r>
              <a:rPr lang="en-IN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Floorplanning </a:t>
            </a:r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   * Defining chip boundary, I/O pin placement, and Macro (SRAM) placement.                    </a:t>
            </a: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* </a:t>
            </a:r>
            <a:r>
              <a:rPr lang="en-IN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 Planning   </a:t>
            </a: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   * Creating the VDD/VSS mesh, rings, and stripes </a:t>
            </a: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minimize IR Drop.</a:t>
            </a:r>
            <a:endParaRPr lang="en-IN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* </a:t>
            </a:r>
            <a:r>
              <a:rPr lang="en-IN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Placement   </a:t>
            </a: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  * Standard cell positioning and timing-driven optimization. </a:t>
            </a: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* </a:t>
            </a:r>
            <a:r>
              <a:rPr lang="en-IN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Clock Tree Synthesis (CTS)   </a:t>
            </a: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  * Clock distribution, skew balancing, and buffer insertion. </a:t>
            </a: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* </a:t>
            </a:r>
            <a:r>
              <a:rPr lang="en-IN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Routing  </a:t>
            </a:r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  * Global and Detailed routing of all signal nets. </a:t>
            </a: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</a:t>
            </a:r>
            <a:r>
              <a:rPr lang="en-IN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</a:t>
            </a:r>
            <a:r>
              <a:rPr lang="en-IN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Physical Verification &amp; Sign-off   </a:t>
            </a:r>
          </a:p>
          <a:p>
            <a:r>
              <a:rPr lang="en-IN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   * DRC, LVS, and STA (Static Timing Analysis).</a:t>
            </a:r>
          </a:p>
        </p:txBody>
      </p:sp>
    </p:spTree>
    <p:extLst>
      <p:ext uri="{BB962C8B-B14F-4D97-AF65-F5344CB8AC3E}">
        <p14:creationId xmlns:p14="http://schemas.microsoft.com/office/powerpoint/2010/main" val="287831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153314-B91E-FBF1-F12D-79E92D64EAE8}"/>
              </a:ext>
            </a:extLst>
          </p:cNvPr>
          <p:cNvSpPr txBox="1"/>
          <p:nvPr/>
        </p:nvSpPr>
        <p:spPr>
          <a:xfrm>
            <a:off x="3768214" y="395438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Synopsys EDA Tool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D1387-10DF-6292-B512-4725404809B4}"/>
              </a:ext>
            </a:extLst>
          </p:cNvPr>
          <p:cNvSpPr txBox="1"/>
          <p:nvPr/>
        </p:nvSpPr>
        <p:spPr>
          <a:xfrm>
            <a:off x="786581" y="1159895"/>
            <a:ext cx="9242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	</a:t>
            </a:r>
          </a:p>
          <a:p>
            <a:r>
              <a:rPr lang="en-IN" dirty="0"/>
              <a:t>				</a:t>
            </a:r>
          </a:p>
          <a:p>
            <a:r>
              <a:rPr lang="en-IN" dirty="0"/>
              <a:t>			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E3FD6172-73B5-BC24-7F66-1B60CECDA0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5433740"/>
                  </p:ext>
                </p:extLst>
              </p:nvPr>
            </p:nvGraphicFramePr>
            <p:xfrm>
              <a:off x="2163097" y="1159895"/>
              <a:ext cx="7865805" cy="4955766"/>
            </p:xfrm>
            <a:graphic>
              <a:graphicData uri="http://schemas.openxmlformats.org/drawingml/2006/table">
                <a:tbl>
                  <a:tblPr/>
                  <a:tblGrid>
                    <a:gridCol w="2621935">
                      <a:extLst>
                        <a:ext uri="{9D8B030D-6E8A-4147-A177-3AD203B41FA5}">
                          <a16:colId xmlns:a16="http://schemas.microsoft.com/office/drawing/2014/main" val="3398644150"/>
                        </a:ext>
                      </a:extLst>
                    </a:gridCol>
                    <a:gridCol w="2621935">
                      <a:extLst>
                        <a:ext uri="{9D8B030D-6E8A-4147-A177-3AD203B41FA5}">
                          <a16:colId xmlns:a16="http://schemas.microsoft.com/office/drawing/2014/main" val="4224433342"/>
                        </a:ext>
                      </a:extLst>
                    </a:gridCol>
                    <a:gridCol w="2621935">
                      <a:extLst>
                        <a:ext uri="{9D8B030D-6E8A-4147-A177-3AD203B41FA5}">
                          <a16:colId xmlns:a16="http://schemas.microsoft.com/office/drawing/2014/main" val="2872753907"/>
                        </a:ext>
                      </a:extLst>
                    </a:gridCol>
                  </a:tblGrid>
                  <a:tr h="356687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 dirty="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Stage</a:t>
                          </a:r>
                          <a:endParaRPr lang="en-IN" sz="1200" dirty="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Synopsys Tool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Primary Function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790717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Synthesis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Design Compiler (DC)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200" dirty="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RTL code </a:t>
                          </a:r>
                          <a14:m>
                            <m:oMath xmlns:m="http://schemas.openxmlformats.org/officeDocument/2006/math">
                              <m:r>
                                <a:rPr lang="en-IN" sz="1200" i="1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200" dirty="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Gate-level Netlist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0695642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 dirty="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Floorplanning</a:t>
                          </a:r>
                          <a:endParaRPr lang="en-IN" sz="1200" dirty="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 dirty="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IC Compiler II</a:t>
                          </a:r>
                          <a:endParaRPr lang="en-IN" sz="1200" dirty="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20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Die area, Macro placement, I/O pads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3499530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Placement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IC Compiler II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Standard cell positioning &amp; optimization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9146395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 dirty="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CTS</a:t>
                          </a:r>
                          <a:endParaRPr lang="en-IN" sz="1200" dirty="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IC Compiler II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20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Clock tree building (skew/latency control)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3210522"/>
                      </a:ext>
                    </a:extLst>
                  </a:tr>
                  <a:tr h="356687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Routing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IC Compiler II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Final metal interconnects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4837102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Extraction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StarRC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Capturing wire resistance/capacitance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936672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Sign-off STA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PrimeTime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20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Final timing check before manufacturing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3245994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Verification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IC Validator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200" dirty="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Final physical rule check (DRC/LVS)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983495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E3FD6172-73B5-BC24-7F66-1B60CECDA0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5433740"/>
                  </p:ext>
                </p:extLst>
              </p:nvPr>
            </p:nvGraphicFramePr>
            <p:xfrm>
              <a:off x="2163097" y="1159895"/>
              <a:ext cx="7865805" cy="4955766"/>
            </p:xfrm>
            <a:graphic>
              <a:graphicData uri="http://schemas.openxmlformats.org/drawingml/2006/table">
                <a:tbl>
                  <a:tblPr/>
                  <a:tblGrid>
                    <a:gridCol w="2621935">
                      <a:extLst>
                        <a:ext uri="{9D8B030D-6E8A-4147-A177-3AD203B41FA5}">
                          <a16:colId xmlns:a16="http://schemas.microsoft.com/office/drawing/2014/main" val="3398644150"/>
                        </a:ext>
                      </a:extLst>
                    </a:gridCol>
                    <a:gridCol w="2621935">
                      <a:extLst>
                        <a:ext uri="{9D8B030D-6E8A-4147-A177-3AD203B41FA5}">
                          <a16:colId xmlns:a16="http://schemas.microsoft.com/office/drawing/2014/main" val="4224433342"/>
                        </a:ext>
                      </a:extLst>
                    </a:gridCol>
                    <a:gridCol w="2621935">
                      <a:extLst>
                        <a:ext uri="{9D8B030D-6E8A-4147-A177-3AD203B41FA5}">
                          <a16:colId xmlns:a16="http://schemas.microsoft.com/office/drawing/2014/main" val="2872753907"/>
                        </a:ext>
                      </a:extLst>
                    </a:gridCol>
                  </a:tblGrid>
                  <a:tr h="356687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 dirty="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Stage</a:t>
                          </a:r>
                          <a:endParaRPr lang="en-IN" sz="1200" dirty="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Synopsys Tool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Primary Function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790717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Synthesis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Design Compiler (DC)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768" t="-60606" r="-232" b="-66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0695642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 dirty="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Floorplanning</a:t>
                          </a:r>
                          <a:endParaRPr lang="en-IN" sz="1200" dirty="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 dirty="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IC Compiler II</a:t>
                          </a:r>
                          <a:endParaRPr lang="en-IN" sz="1200" dirty="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20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Die area, Macro placement, I/O pads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3499530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Placement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IC Compiler II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Standard cell positioning &amp; optimization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9146395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 dirty="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CTS</a:t>
                          </a:r>
                          <a:endParaRPr lang="en-IN" sz="1200" dirty="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IC Compiler II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20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Clock tree building (skew/latency control)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3210522"/>
                      </a:ext>
                    </a:extLst>
                  </a:tr>
                  <a:tr h="356687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Routing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IC Compiler II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Final metal interconnects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4837102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Extraction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StarRC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Capturing wire resistance/capacitance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936672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Sign-off STA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PrimeTime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20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Final timing check before manufacturing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3245994"/>
                      </a:ext>
                    </a:extLst>
                  </a:tr>
                  <a:tr h="606056"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Verification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IN" sz="1200" b="1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IC Validator</a:t>
                          </a:r>
                          <a:endParaRPr lang="en-IN" sz="1200">
                            <a:solidFill>
                              <a:srgbClr val="1F1F1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200" dirty="0">
                              <a:solidFill>
                                <a:srgbClr val="1F1F1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Final physical rule check (DRC/LVS)</a:t>
                          </a:r>
                        </a:p>
                      </a:txBody>
                      <a:tcPr marL="59029" marR="59029" marT="39352" marB="39352" anchor="ctr">
                        <a:lnL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98349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08565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BFD5D1-7DBF-E56E-68E6-176F1EBE27C5}"/>
              </a:ext>
            </a:extLst>
          </p:cNvPr>
          <p:cNvSpPr txBox="1"/>
          <p:nvPr/>
        </p:nvSpPr>
        <p:spPr>
          <a:xfrm>
            <a:off x="3045542" y="434766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Raven Wrapper Project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567963-D36D-5385-E8D8-5C9471A6F434}"/>
              </a:ext>
            </a:extLst>
          </p:cNvPr>
          <p:cNvSpPr txBox="1"/>
          <p:nvPr/>
        </p:nvSpPr>
        <p:spPr>
          <a:xfrm>
            <a:off x="1356852" y="1278194"/>
            <a:ext cx="87580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Raven_wrapper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a design block for synthesis, place-and-route, and testing- Ensures compatibility with 45nm technology and multi-clocks.</a:t>
            </a: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Mode (</a:t>
            </a:r>
            <a:r>
              <a:rPr lang="en-US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</a:t>
            </a: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  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This suggests the wrapper is configured in functional mode (normal operation), as opposed to test/debug modes.- </a:t>
            </a: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Tech (45nm)   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The design is targeted for a 45 nanometer technology node. This defines transistor size, power, and performance characteristics.- </a:t>
            </a: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Clocks (3 clocks)   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The design uses three separate clock domains. Multiple clocks are common in complex chips to handle different subsystems.- </a:t>
            </a: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 (Layers)   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Likely refers to 10 metal layers available in the process technology for routing interconnects.</a:t>
            </a: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Voltages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VDD &amp; VSS</a:t>
            </a: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Physical Cell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Filler Cell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11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EA5ECE-E21D-E473-02F6-EB36354334AE}"/>
              </a:ext>
            </a:extLst>
          </p:cNvPr>
          <p:cNvSpPr txBox="1"/>
          <p:nvPr/>
        </p:nvSpPr>
        <p:spPr>
          <a:xfrm>
            <a:off x="4417142" y="253800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FLOOR PLANNING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C0DF1-5FF5-926A-DA2D-4E24618B1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" t="111" r="6137" b="111"/>
          <a:stretch>
            <a:fillRect/>
          </a:stretch>
        </p:blipFill>
        <p:spPr>
          <a:xfrm>
            <a:off x="2094271" y="833595"/>
            <a:ext cx="7020232" cy="36928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99AA92-28FC-A618-6908-EEB16453C8A5}"/>
              </a:ext>
            </a:extLst>
          </p:cNvPr>
          <p:cNvSpPr txBox="1"/>
          <p:nvPr/>
        </p:nvSpPr>
        <p:spPr>
          <a:xfrm>
            <a:off x="2236839" y="4572875"/>
            <a:ext cx="77183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Inputs for </a:t>
            </a:r>
            <a:r>
              <a:rPr lang="en-IN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floorplanning</a:t>
            </a:r>
            <a:endParaRPr lang="en-IN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Netlist (.v) </a:t>
            </a: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Logical connectivity of the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Technology file (.techlef) </a:t>
            </a: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Process-specific rules.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Timing libraries (.lib) </a:t>
            </a: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Timing characteristics of cells.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Physical libraries (.</a:t>
            </a:r>
            <a:r>
              <a:rPr lang="en-IN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lef</a:t>
            </a:r>
            <a:r>
              <a:rPr lang="en-IN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Cell dimensions and layout info.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Constraints (.</a:t>
            </a:r>
            <a:r>
              <a:rPr lang="en-IN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sdc</a:t>
            </a:r>
            <a:r>
              <a:rPr lang="en-IN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Timing and design constraints.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TLU+ </a:t>
            </a: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→ Parasitic information for RC extraction.</a:t>
            </a:r>
          </a:p>
        </p:txBody>
      </p:sp>
    </p:spTree>
    <p:extLst>
      <p:ext uri="{BB962C8B-B14F-4D97-AF65-F5344CB8AC3E}">
        <p14:creationId xmlns:p14="http://schemas.microsoft.com/office/powerpoint/2010/main" val="1469191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BE410-E34C-1674-E4FB-6630060BAA2B}"/>
              </a:ext>
            </a:extLst>
          </p:cNvPr>
          <p:cNvSpPr txBox="1"/>
          <p:nvPr/>
        </p:nvSpPr>
        <p:spPr>
          <a:xfrm>
            <a:off x="1553496" y="1533832"/>
            <a:ext cx="90850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CHECKS</a:t>
            </a:r>
          </a:p>
          <a:p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Die/Core Area Size</a:t>
            </a:r>
          </a:p>
          <a:p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Macro placement</a:t>
            </a:r>
          </a:p>
          <a:p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I/O pad placement</a:t>
            </a:r>
          </a:p>
          <a:p>
            <a:endParaRPr lang="en-IN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Errors</a:t>
            </a:r>
          </a:p>
          <a:p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Placement Congestion</a:t>
            </a:r>
          </a:p>
          <a:p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Orientation of macros</a:t>
            </a:r>
          </a:p>
          <a:p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Misalignment of macros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02DD92-5A3D-BD86-2604-FCC7E6118CEF}"/>
              </a:ext>
            </a:extLst>
          </p:cNvPr>
          <p:cNvSpPr txBox="1"/>
          <p:nvPr/>
        </p:nvSpPr>
        <p:spPr>
          <a:xfrm>
            <a:off x="4161504" y="474095"/>
            <a:ext cx="61009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FLOOR PLANNING</a:t>
            </a:r>
          </a:p>
          <a:p>
            <a:endParaRPr lang="en-IN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819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028506-EF7C-8083-498F-AC7478592B62}"/>
              </a:ext>
            </a:extLst>
          </p:cNvPr>
          <p:cNvSpPr txBox="1"/>
          <p:nvPr/>
        </p:nvSpPr>
        <p:spPr>
          <a:xfrm>
            <a:off x="3768211" y="21280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 PLANNING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2D6741-7BE5-9FA8-87C0-8AFB6A54A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" r="6164"/>
          <a:stretch>
            <a:fillRect/>
          </a:stretch>
        </p:blipFill>
        <p:spPr>
          <a:xfrm>
            <a:off x="3048002" y="833595"/>
            <a:ext cx="5594554" cy="3166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B68827-31FB-9152-E00D-72929DD2A32A}"/>
              </a:ext>
            </a:extLst>
          </p:cNvPr>
          <p:cNvSpPr txBox="1"/>
          <p:nvPr/>
        </p:nvSpPr>
        <p:spPr>
          <a:xfrm>
            <a:off x="1563330" y="4159045"/>
            <a:ext cx="84262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Creating the VDD/VSS mesh, rings, and stripes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minimize IR Drop.</a:t>
            </a:r>
          </a:p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 Mesh: Horizontal and Vertical stripes using higher metal layers. Connecting VDD and VSS pins of standard cells to the mesh.</a:t>
            </a:r>
          </a:p>
          <a:p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Checks: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Check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missing vias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Check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drc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Check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connectivity</a:t>
            </a:r>
          </a:p>
        </p:txBody>
      </p:sp>
    </p:spTree>
    <p:extLst>
      <p:ext uri="{BB962C8B-B14F-4D97-AF65-F5344CB8AC3E}">
        <p14:creationId xmlns:p14="http://schemas.microsoft.com/office/powerpoint/2010/main" val="867085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D7581B-5F21-0542-6C50-F81F5469DC0F}"/>
              </a:ext>
            </a:extLst>
          </p:cNvPr>
          <p:cNvSpPr txBox="1"/>
          <p:nvPr/>
        </p:nvSpPr>
        <p:spPr>
          <a:xfrm>
            <a:off x="4515465" y="385605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82542E-5BB3-47DC-AB35-ACC819140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4" r="2754"/>
          <a:stretch/>
        </p:blipFill>
        <p:spPr>
          <a:xfrm>
            <a:off x="2281965" y="853259"/>
            <a:ext cx="6100916" cy="35024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D982AB-23C5-C84B-2355-B857D914BA97}"/>
              </a:ext>
            </a:extLst>
          </p:cNvPr>
          <p:cNvSpPr txBox="1"/>
          <p:nvPr/>
        </p:nvSpPr>
        <p:spPr>
          <a:xfrm>
            <a:off x="1877960" y="4609183"/>
            <a:ext cx="72562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 the standard cells inside the core area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Timing Analysis/congestion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Legaliazation</a:t>
            </a: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standard cell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QOR(Quality of Results) → </a:t>
            </a:r>
            <a:r>
              <a:rPr lang="en-IN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Area,Power,Timing</a:t>
            </a:r>
            <a:endParaRPr lang="en-IN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Optimaztion</a:t>
            </a:r>
            <a:endParaRPr lang="en-IN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720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309126-8286-5C1C-45A3-96D355E30EDB}"/>
              </a:ext>
            </a:extLst>
          </p:cNvPr>
          <p:cNvSpPr txBox="1"/>
          <p:nvPr/>
        </p:nvSpPr>
        <p:spPr>
          <a:xfrm>
            <a:off x="1809135" y="1022555"/>
            <a:ext cx="761016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Checks after placement</a:t>
            </a:r>
          </a:p>
          <a:p>
            <a:endParaRPr lang="en-IN" b="1" u="sng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Timing – check the setup timing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Congestion- cell </a:t>
            </a:r>
            <a:r>
              <a:rPr lang="en-IN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density,Pin</a:t>
            </a: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density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Legality issues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Utilization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Area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MV Violations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DRV – Max </a:t>
            </a:r>
            <a:r>
              <a:rPr lang="en-IN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Capictance,Max</a:t>
            </a: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Fan </a:t>
            </a:r>
            <a:r>
              <a:rPr lang="en-IN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out,Max</a:t>
            </a: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IN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Transistion</a:t>
            </a:r>
            <a:endParaRPr lang="en-IN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9545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76B740-8E10-547B-6581-DF61EEB2BB40}"/>
              </a:ext>
            </a:extLst>
          </p:cNvPr>
          <p:cNvSpPr txBox="1"/>
          <p:nvPr/>
        </p:nvSpPr>
        <p:spPr>
          <a:xfrm>
            <a:off x="3384755" y="539078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CTS(CLOCK TREE SYNTHESIS)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22118-8F49-15B5-EFFC-60A63535583D}"/>
              </a:ext>
            </a:extLst>
          </p:cNvPr>
          <p:cNvSpPr txBox="1"/>
          <p:nvPr/>
        </p:nvSpPr>
        <p:spPr>
          <a:xfrm>
            <a:off x="1523999" y="1085843"/>
            <a:ext cx="88981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Clock Tree Synthesis (CTS) is the most critical stage in physical design. It is the process of distributing the clock signal from a single entry point (the clock pin) to every sequential element (flip-flops and registers) in the chip.</a:t>
            </a:r>
            <a:endParaRPr lang="en-IN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9B0833-3677-B1F5-B51F-FB67ABC34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" r="6630"/>
          <a:stretch>
            <a:fillRect/>
          </a:stretch>
        </p:blipFill>
        <p:spPr>
          <a:xfrm>
            <a:off x="2423653" y="2290917"/>
            <a:ext cx="6828504" cy="392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636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BA0F48-4D11-40D3-71DA-836DB78CD011}"/>
              </a:ext>
            </a:extLst>
          </p:cNvPr>
          <p:cNvSpPr txBox="1"/>
          <p:nvPr/>
        </p:nvSpPr>
        <p:spPr>
          <a:xfrm>
            <a:off x="2241755" y="814600"/>
            <a:ext cx="793463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Checks After CTS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Report Clock QOR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Report Global Routing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63B50-4FB3-8971-3DF6-AD75EA03F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6" b="2782"/>
          <a:stretch>
            <a:fillRect/>
          </a:stretch>
        </p:blipFill>
        <p:spPr>
          <a:xfrm>
            <a:off x="642239" y="2487561"/>
            <a:ext cx="5689736" cy="28710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2B94CB-7C09-1990-6920-C63DB33AB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6" b="2782"/>
          <a:stretch>
            <a:fillRect/>
          </a:stretch>
        </p:blipFill>
        <p:spPr>
          <a:xfrm>
            <a:off x="6459795" y="2487561"/>
            <a:ext cx="5625443" cy="287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0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81A082-14B7-A5E9-EC0F-06433D531877}"/>
              </a:ext>
            </a:extLst>
          </p:cNvPr>
          <p:cNvSpPr txBox="1"/>
          <p:nvPr/>
        </p:nvSpPr>
        <p:spPr>
          <a:xfrm>
            <a:off x="4552334" y="471949"/>
            <a:ext cx="4513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63E61-5183-99F4-413A-C2CFEA7F217D}"/>
              </a:ext>
            </a:extLst>
          </p:cNvPr>
          <p:cNvSpPr txBox="1"/>
          <p:nvPr/>
        </p:nvSpPr>
        <p:spPr>
          <a:xfrm>
            <a:off x="1135626" y="971247"/>
            <a:ext cx="93357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Routing is the stage where the tool creates the actual physical connections (metal wires) between the placed cells. After CTS, "placed" a design with a balanced clock.</a:t>
            </a:r>
            <a:endParaRPr lang="en-IN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D61008-D753-A850-3BF3-ECC3644B1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614" y="2024543"/>
            <a:ext cx="7321727" cy="423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852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A106A6-B31D-DC4C-5C3D-E7810D988285}"/>
              </a:ext>
            </a:extLst>
          </p:cNvPr>
          <p:cNvSpPr txBox="1"/>
          <p:nvPr/>
        </p:nvSpPr>
        <p:spPr>
          <a:xfrm>
            <a:off x="1995949" y="629265"/>
            <a:ext cx="596818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Checks After Routing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Check Routes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Check LVS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Check Global Timing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Report Utilization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Report Area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Report Design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31525E-148A-5FAA-EB0E-2C0EDB0CD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5" b="2803"/>
          <a:stretch>
            <a:fillRect/>
          </a:stretch>
        </p:blipFill>
        <p:spPr>
          <a:xfrm>
            <a:off x="1995949" y="2792361"/>
            <a:ext cx="7195748" cy="362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21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FDA2C6-8589-1479-F9CF-F5258FD6DF4A}"/>
              </a:ext>
            </a:extLst>
          </p:cNvPr>
          <p:cNvSpPr txBox="1"/>
          <p:nvPr/>
        </p:nvSpPr>
        <p:spPr>
          <a:xfrm>
            <a:off x="3045542" y="375772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/>
            <a:r>
              <a:rPr lang="en-IN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FILLER INSERTION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D93CE-1C75-6EA8-525D-10218AE02521}"/>
              </a:ext>
            </a:extLst>
          </p:cNvPr>
          <p:cNvSpPr txBox="1"/>
          <p:nvPr/>
        </p:nvSpPr>
        <p:spPr>
          <a:xfrm>
            <a:off x="1632155" y="904568"/>
            <a:ext cx="8986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Filler Cells are non-functional cells that contain only the power and ground rails and the N-well/P-well layers. We insert them during the final stages of the design (usually after routing and before sign-off) to "fill" the empty gaps between standard cells.</a:t>
            </a:r>
            <a:endParaRPr lang="en-IN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EA8C44-96A7-0B7A-BC90-6A604E665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" r="1538" b="371"/>
          <a:stretch>
            <a:fillRect/>
          </a:stretch>
        </p:blipFill>
        <p:spPr>
          <a:xfrm>
            <a:off x="1789470" y="2191691"/>
            <a:ext cx="8052621" cy="450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27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483</TotalTime>
  <Words>956</Words>
  <Application>Microsoft Office PowerPoint</Application>
  <PresentationFormat>Widescreen</PresentationFormat>
  <Paragraphs>144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Cambria Math</vt:lpstr>
      <vt:lpstr>Tw Cen MT</vt:lpstr>
      <vt:lpstr>Verdana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Sai</dc:creator>
  <cp:lastModifiedBy>Krishna Sai</cp:lastModifiedBy>
  <cp:revision>11</cp:revision>
  <dcterms:created xsi:type="dcterms:W3CDTF">2026-02-09T04:05:39Z</dcterms:created>
  <dcterms:modified xsi:type="dcterms:W3CDTF">2026-02-09T12:16:11Z</dcterms:modified>
</cp:coreProperties>
</file>