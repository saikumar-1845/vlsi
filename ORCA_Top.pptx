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73" r:id="rId6"/>
    <p:sldId id="267" r:id="rId7"/>
    <p:sldId id="268" r:id="rId8"/>
    <p:sldId id="260" r:id="rId9"/>
    <p:sldId id="266" r:id="rId10"/>
    <p:sldId id="262" r:id="rId11"/>
    <p:sldId id="269" r:id="rId12"/>
    <p:sldId id="263" r:id="rId13"/>
    <p:sldId id="270" r:id="rId14"/>
    <p:sldId id="26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33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2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39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3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35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2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23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6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53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53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23272-D035-483D-8714-E7E02BAFEEE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F0CAE-0C02-415D-8D14-2751B5631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1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A71E-BBF0-9094-932C-3339C4894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4606" y="344382"/>
            <a:ext cx="10198308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0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ORCA_TOP 32nm — Place &amp; Route</a:t>
            </a:r>
            <a:endParaRPr lang="en-IN" sz="5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F97AB-0CAE-86BD-587B-47486ED34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8892" y="3199667"/>
            <a:ext cx="9654022" cy="1655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Physical Design (PLACE AND ROUTE) Implementation using ICC2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88447-3C34-5EE2-D8BA-660FD5FEAD37}"/>
              </a:ext>
            </a:extLst>
          </p:cNvPr>
          <p:cNvSpPr txBox="1"/>
          <p:nvPr/>
        </p:nvSpPr>
        <p:spPr>
          <a:xfrm>
            <a:off x="8428524" y="5323115"/>
            <a:ext cx="4601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Presented By</a:t>
            </a:r>
          </a:p>
          <a:p>
            <a:r>
              <a:rPr lang="en-IN" sz="2000" b="1" dirty="0">
                <a:solidFill>
                  <a:srgbClr val="FF0000"/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K.K.SAI KUMAR</a:t>
            </a:r>
          </a:p>
        </p:txBody>
      </p:sp>
    </p:spTree>
    <p:extLst>
      <p:ext uri="{BB962C8B-B14F-4D97-AF65-F5344CB8AC3E}">
        <p14:creationId xmlns:p14="http://schemas.microsoft.com/office/powerpoint/2010/main" val="231788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242B9-BE2E-027A-DD5F-C7557548821B}"/>
              </a:ext>
            </a:extLst>
          </p:cNvPr>
          <p:cNvSpPr txBox="1"/>
          <p:nvPr/>
        </p:nvSpPr>
        <p:spPr>
          <a:xfrm>
            <a:off x="1653915" y="1307891"/>
            <a:ext cx="933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CONTENTS</a:t>
            </a:r>
          </a:p>
          <a:p>
            <a:pPr algn="ctr"/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Introduction to </a:t>
            </a:r>
            <a:r>
              <a:rPr lang="en-I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Pnr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Orca_Top Project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Introduction to Orca_top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Input Preparation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Floorplan &amp; powerplan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Placement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CTS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Routing</a:t>
            </a:r>
          </a:p>
          <a:p>
            <a:pPr lvl="3"/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44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9803-CBFA-3B56-7F39-E32D1EC9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07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Introduction to PnR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749CC-7218-CEAF-4D48-A8008C402E24}"/>
              </a:ext>
            </a:extLst>
          </p:cNvPr>
          <p:cNvSpPr txBox="1"/>
          <p:nvPr/>
        </p:nvSpPr>
        <p:spPr>
          <a:xfrm>
            <a:off x="699541" y="860563"/>
            <a:ext cx="107929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PnR means the logical netlist is converted into a physical layout (GDSII) by placing cells and routing connections.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Inputs to PnR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Netlist (from synthesis)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Constraints (SDC)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Technology file (e.g., 32nm)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LEF/DEF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Standard cell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Power intent (UPF/CPF)</a:t>
            </a:r>
          </a:p>
          <a:p>
            <a:r>
              <a:rPr lang="en-US" sz="2400" b="1" dirty="0">
                <a:latin typeface="Aptos" panose="020B0004020202020204" pitchFamily="34" charset="0"/>
              </a:rPr>
              <a:t>PnR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Floorplanning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Power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Clock Tree Synthesis (CTS)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Routing</a:t>
            </a: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18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84899E-BA67-9BF2-EBEC-679A18017B68}"/>
              </a:ext>
            </a:extLst>
          </p:cNvPr>
          <p:cNvSpPr txBox="1"/>
          <p:nvPr/>
        </p:nvSpPr>
        <p:spPr>
          <a:xfrm>
            <a:off x="489857" y="450178"/>
            <a:ext cx="10689772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Introduction to Orca_top</a:t>
            </a:r>
          </a:p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“</a:t>
            </a:r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ORCA top project includes design inputs like Logical Libraries, Physical Libraries ,modes (functional &amp; scan), technology node, clock definitions, routing layers, voltage domains, and scan/IO setup required before starting PnR. </a:t>
            </a:r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”</a:t>
            </a:r>
          </a:p>
          <a:p>
            <a:endParaRPr lang="en-US" sz="2100" b="1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Modes</a:t>
            </a:r>
          </a:p>
          <a:p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In orca top we have 2 modes </a:t>
            </a:r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(</a:t>
            </a:r>
            <a:r>
              <a:rPr lang="en-US" sz="2100" b="1" dirty="0" err="1">
                <a:latin typeface="Aptos" panose="020B0004020202020204" pitchFamily="34" charset="0"/>
                <a:ea typeface="Verdana" panose="020B0604030504040204" pitchFamily="34" charset="0"/>
              </a:rPr>
              <a:t>func</a:t>
            </a:r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, scan)</a:t>
            </a:r>
            <a:endParaRPr lang="en-US" sz="21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Functional  mode(</a:t>
            </a:r>
            <a:r>
              <a:rPr lang="en-US" sz="2100" b="1" dirty="0" err="1">
                <a:latin typeface="Aptos" panose="020B0004020202020204" pitchFamily="34" charset="0"/>
                <a:ea typeface="Verdana" panose="020B0604030504040204" pitchFamily="34" charset="0"/>
              </a:rPr>
              <a:t>func</a:t>
            </a:r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)</a:t>
            </a:r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 Normal working logic</a:t>
            </a:r>
          </a:p>
          <a:p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Example: ALU, controller, memory logic</a:t>
            </a:r>
          </a:p>
          <a:p>
            <a:r>
              <a:rPr lang="en-US" sz="2100" b="1" dirty="0">
                <a:latin typeface="Aptos" panose="020B0004020202020204" pitchFamily="34" charset="0"/>
                <a:ea typeface="Verdana" panose="020B0604030504040204" pitchFamily="34" charset="0"/>
              </a:rPr>
              <a:t>Scan mode (scan)</a:t>
            </a:r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Used for testing the chip </a:t>
            </a:r>
          </a:p>
          <a:p>
            <a:r>
              <a:rPr lang="en-US" sz="2100" dirty="0">
                <a:latin typeface="Aptos" panose="020B0004020202020204" pitchFamily="34" charset="0"/>
                <a:ea typeface="Verdana" panose="020B0604030504040204" pitchFamily="34" charset="0"/>
              </a:rPr>
              <a:t>Flip-flops connected in scan chains</a:t>
            </a:r>
          </a:p>
          <a:p>
            <a:r>
              <a:rPr lang="en-IN" sz="2100" b="1" dirty="0">
                <a:latin typeface="Aptos" panose="020B0004020202020204" pitchFamily="34" charset="0"/>
                <a:ea typeface="Verdana" panose="020B0604030504040204" pitchFamily="34" charset="0"/>
              </a:rPr>
              <a:t>Technology node (32nm) 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This tells how small the transistors are32nm = transistor Size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Smaller node →faster✔️ less power✔️ more density✔️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96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68478-6BF4-9F64-7A41-DC93987090BC}"/>
              </a:ext>
            </a:extLst>
          </p:cNvPr>
          <p:cNvSpPr txBox="1"/>
          <p:nvPr/>
        </p:nvSpPr>
        <p:spPr>
          <a:xfrm>
            <a:off x="522515" y="293915"/>
            <a:ext cx="1077685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Clocks 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Clock controls timing of the chip Synchronizes all operations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Key things: Clock period, Skew (difference in arrival time) ,and Latency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Routing Layers 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These are metal layers(Metal1, Metal2, Metal3…Metal9) used for routing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Lower layers → local routing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Higher layers → global routing 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Voltage Areas: 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Different parts of chip use different voltages – VDD,VSS,VDDH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Scan Flop: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Used for testing and helps detect manufacturing defects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Implemented as scan chains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Logical Libraries: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HVT,LVT,SVT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HVT (High Threshold Voltage)</a:t>
            </a:r>
            <a:b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→ Lower leakage power, slower speed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LVT (Low Threshold Voltage)</a:t>
            </a:r>
            <a:b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→ Higher speed, higher leakage power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SVT (Standard Threshold Voltage)</a:t>
            </a:r>
            <a:b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→ Balanced trade-off between speed and leakage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9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81814B-37E3-EA9F-B808-CE9C4CE127B4}"/>
              </a:ext>
            </a:extLst>
          </p:cNvPr>
          <p:cNvSpPr txBox="1"/>
          <p:nvPr/>
        </p:nvSpPr>
        <p:spPr>
          <a:xfrm>
            <a:off x="3918858" y="0"/>
            <a:ext cx="48223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Verdana" panose="020B0604030504040204" pitchFamily="34" charset="0"/>
                <a:ea typeface="Verdana" panose="020B0604030504040204" pitchFamily="34" charset="0"/>
              </a:rPr>
              <a:t>Input Preparation</a:t>
            </a:r>
          </a:p>
          <a:p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E48DB-5E15-CEA5-57BA-4631969BAF56}"/>
              </a:ext>
            </a:extLst>
          </p:cNvPr>
          <p:cNvSpPr txBox="1"/>
          <p:nvPr/>
        </p:nvSpPr>
        <p:spPr>
          <a:xfrm>
            <a:off x="549729" y="547691"/>
            <a:ext cx="10042072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>
                <a:latin typeface="Aptos" panose="020B0004020202020204" pitchFamily="34" charset="0"/>
                <a:ea typeface="Verdana" panose="020B0604030504040204" pitchFamily="34" charset="0"/>
              </a:rPr>
              <a:t>Library Setup / Import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Types of libraries: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Technology file (.</a:t>
            </a:r>
            <a:r>
              <a:rPr lang="en-IN" sz="2000" dirty="0" err="1">
                <a:latin typeface="Aptos" panose="020B0004020202020204" pitchFamily="34" charset="0"/>
                <a:ea typeface="Verdana" panose="020B0604030504040204" pitchFamily="34" charset="0"/>
              </a:rPr>
              <a:t>tf</a:t>
            </a:r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) → layer info, rules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Logical libraries (.lib / .</a:t>
            </a:r>
            <a:r>
              <a:rPr lang="en-IN" sz="2000" dirty="0" err="1">
                <a:latin typeface="Aptos" panose="020B0004020202020204" pitchFamily="34" charset="0"/>
                <a:ea typeface="Verdana" panose="020B0604030504040204" pitchFamily="34" charset="0"/>
              </a:rPr>
              <a:t>db</a:t>
            </a:r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) → timing, power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Physical libraries (LEF / </a:t>
            </a:r>
            <a:r>
              <a:rPr lang="en-IN" sz="2000" dirty="0" err="1">
                <a:latin typeface="Aptos" panose="020B0004020202020204" pitchFamily="34" charset="0"/>
                <a:ea typeface="Verdana" panose="020B0604030504040204" pitchFamily="34" charset="0"/>
              </a:rPr>
              <a:t>Milkyway</a:t>
            </a:r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 / NDM) → cell layout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TLU+ files → RC extraction data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2 .  Create Design Library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Create working library (Milkyway / NDM and .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tf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)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Ex: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create_lib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 -technology saed32nm_1p9m_mw.tf {workspace/pdlab1}ORCA_TOP.ndm</a:t>
            </a: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3 . Read Netlist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Import your synthesized design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Ex: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read_verilog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design.v</a:t>
            </a:r>
            <a:endParaRPr lang="en-US" sz="20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4. Link Design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Connect netlist with libraries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Ex :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link_block</a:t>
            </a:r>
            <a:endParaRPr lang="en-US" sz="20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5. Read Constraints (SDC)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Timing constraints are very important before placement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Ex :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read_sdc</a:t>
            </a:r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  <a:ea typeface="Verdana" panose="020B0604030504040204" pitchFamily="34" charset="0"/>
              </a:rPr>
              <a:t>design.sdc</a:t>
            </a:r>
            <a:endParaRPr lang="en-US" sz="20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  <a:ea typeface="Verdana" panose="020B0604030504040204" pitchFamily="34" charset="0"/>
              </a:rPr>
              <a:t>6. Unified power format (UPF)</a:t>
            </a:r>
          </a:p>
          <a:p>
            <a:r>
              <a:rPr lang="en-US" sz="2000" dirty="0">
                <a:latin typeface="Aptos" panose="020B0004020202020204" pitchFamily="34" charset="0"/>
                <a:ea typeface="Verdana" panose="020B0604030504040204" pitchFamily="34" charset="0"/>
              </a:rPr>
              <a:t>Ex : load_upf ORCA_TOP_design.upf</a:t>
            </a: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50815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295211-267C-B382-2333-66AF857C9EB8}"/>
              </a:ext>
            </a:extLst>
          </p:cNvPr>
          <p:cNvSpPr txBox="1"/>
          <p:nvPr/>
        </p:nvSpPr>
        <p:spPr>
          <a:xfrm>
            <a:off x="515275" y="188412"/>
            <a:ext cx="105700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  <a:ea typeface="Verdana" panose="020B0604030504040204" pitchFamily="34" charset="0"/>
              </a:rPr>
              <a:t>Checks Before floorplan :</a:t>
            </a:r>
          </a:p>
          <a:p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</a:rPr>
              <a:t>Check mv design and Design mismatch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7110C-C2D4-EA49-4515-CDCF182E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2" y="1038218"/>
            <a:ext cx="5277991" cy="3131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223FD1-74B4-31D6-0018-D8EE8FEB0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289" y="1038219"/>
            <a:ext cx="5346682" cy="3131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BCFDB8-06E8-4A57-1DA8-18B26B36F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8" t="4921" r="6482" b="56190"/>
          <a:stretch>
            <a:fillRect/>
          </a:stretch>
        </p:blipFill>
        <p:spPr>
          <a:xfrm>
            <a:off x="203452" y="4541982"/>
            <a:ext cx="8034529" cy="195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ABC09-166A-671F-CD19-479CEA7DD201}"/>
              </a:ext>
            </a:extLst>
          </p:cNvPr>
          <p:cNvSpPr txBox="1"/>
          <p:nvPr/>
        </p:nvSpPr>
        <p:spPr>
          <a:xfrm>
            <a:off x="1163416" y="200290"/>
            <a:ext cx="10140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</a:rPr>
              <a:t>Floorplan and powerplan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Define chip/core area and Placing the macros (memories, IPs)as per macro guidelines and Define IO placement and Create voltage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Floorplanning</a:t>
            </a:r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is the process of defining the physical layout of the chip — the core area, I/O ring, macros, and blockages — before placing standard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Power planning </a:t>
            </a:r>
            <a:r>
              <a:rPr lang="en-IN" sz="2000" dirty="0">
                <a:latin typeface="Aptos" panose="020B00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ensures the delivery of power (VDD) and High drain Supply voltage (VDDH) and ground (VSS) across the chip to avoid IR drop and electromigration.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10C56-C0EF-9610-210B-7D8592805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1"/>
          <a:stretch>
            <a:fillRect/>
          </a:stretch>
        </p:blipFill>
        <p:spPr>
          <a:xfrm>
            <a:off x="1049097" y="3304906"/>
            <a:ext cx="4931229" cy="3072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1FEF9E-CF42-B2D0-5A6A-6FCDFA792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1" r="5084"/>
          <a:stretch>
            <a:fillRect/>
          </a:stretch>
        </p:blipFill>
        <p:spPr>
          <a:xfrm>
            <a:off x="6233772" y="3288159"/>
            <a:ext cx="5184674" cy="3089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CE80E6-9384-7308-1AD4-C2EC48947C14}"/>
              </a:ext>
            </a:extLst>
          </p:cNvPr>
          <p:cNvSpPr txBox="1"/>
          <p:nvPr/>
        </p:nvSpPr>
        <p:spPr>
          <a:xfrm>
            <a:off x="1407695" y="57251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78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A9056-CBE8-51D4-9DF5-6079BD319F7D}"/>
              </a:ext>
            </a:extLst>
          </p:cNvPr>
          <p:cNvSpPr txBox="1"/>
          <p:nvPr/>
        </p:nvSpPr>
        <p:spPr>
          <a:xfrm>
            <a:off x="593271" y="683351"/>
            <a:ext cx="11005457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Aptos" panose="020B0004020202020204" pitchFamily="34" charset="0"/>
                <a:ea typeface="Verdana" panose="020B0604030504040204" pitchFamily="34" charset="0"/>
              </a:rPr>
              <a:t>Checks: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Check legality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Check </a:t>
            </a:r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pg</a:t>
            </a: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missing vias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Check </a:t>
            </a:r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pg</a:t>
            </a: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connectivity –</a:t>
            </a:r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check_std_cell_pins</a:t>
            </a: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none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Check  </a:t>
            </a:r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pg</a:t>
            </a: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</a:t>
            </a:r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drc</a:t>
            </a:r>
            <a:endParaRPr lang="en-IN" sz="21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1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r>
              <a:rPr lang="en-IN" sz="2100" b="1" dirty="0">
                <a:latin typeface="Aptos" panose="020B0004020202020204" pitchFamily="34" charset="0"/>
                <a:ea typeface="Verdana" panose="020B0604030504040204" pitchFamily="34" charset="0"/>
              </a:rPr>
              <a:t>Errors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Macro Overlap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Use spacing between macros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Use partial blockages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Pg Missing vias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insert vias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Re-run PG Routing or via fill</a:t>
            </a:r>
          </a:p>
          <a:p>
            <a:r>
              <a:rPr lang="en-IN" sz="2100" dirty="0" err="1">
                <a:latin typeface="Aptos" panose="020B0004020202020204" pitchFamily="34" charset="0"/>
                <a:ea typeface="Verdana" panose="020B0604030504040204" pitchFamily="34" charset="0"/>
              </a:rPr>
              <a:t>pg</a:t>
            </a:r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connectivity- Floating wires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     Add missing Connections</a:t>
            </a:r>
          </a:p>
          <a:p>
            <a:r>
              <a:rPr lang="en-IN" sz="2100" dirty="0">
                <a:latin typeface="Aptos" panose="020B0004020202020204" pitchFamily="34" charset="0"/>
                <a:ea typeface="Verdana" panose="020B0604030504040204" pitchFamily="34" charset="0"/>
              </a:rPr>
              <a:t>     Re-Run power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endParaRPr lang="en-IN" sz="2400" b="1" dirty="0">
              <a:latin typeface="Aptos" panose="020B0004020202020204" pitchFamily="34" charset="0"/>
              <a:ea typeface="Verdana" panose="020B0604030504040204" pitchFamily="34" charset="0"/>
            </a:endParaRP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12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4E1F-595C-3550-D8FC-B5BBFEBE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8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placement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58325-ABF6-3D11-355C-53B9496FE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" r="2558"/>
          <a:stretch>
            <a:fillRect/>
          </a:stretch>
        </p:blipFill>
        <p:spPr>
          <a:xfrm>
            <a:off x="2467389" y="1941059"/>
            <a:ext cx="6452374" cy="3777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47A408-A7E3-21B3-E6B5-AE0A404DE5CA}"/>
              </a:ext>
            </a:extLst>
          </p:cNvPr>
          <p:cNvSpPr txBox="1"/>
          <p:nvPr/>
        </p:nvSpPr>
        <p:spPr>
          <a:xfrm>
            <a:off x="700237" y="1033147"/>
            <a:ext cx="1135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ptos" panose="020B0004020202020204" pitchFamily="34" charset="0"/>
                <a:cs typeface="Times New Roman" panose="02020603050405020304" pitchFamily="18" charset="0"/>
              </a:rPr>
              <a:t>Placement is the process of assigning physical locations and placing the standard cells, and physical-only cells (like endcaps, well taps, </a:t>
            </a:r>
            <a:r>
              <a:rPr lang="en-IN" sz="2400" dirty="0" err="1">
                <a:latin typeface="Aptos" panose="020B0004020202020204" pitchFamily="34" charset="0"/>
                <a:cs typeface="Times New Roman" panose="02020603050405020304" pitchFamily="18" charset="0"/>
              </a:rPr>
              <a:t>decaps</a:t>
            </a:r>
            <a:r>
              <a:rPr lang="en-IN" sz="2400" dirty="0">
                <a:latin typeface="Aptos" panose="020B0004020202020204" pitchFamily="34" charset="0"/>
                <a:cs typeface="Times New Roman" panose="02020603050405020304" pitchFamily="18" charset="0"/>
              </a:rPr>
              <a:t>) within the chip’s floorplan. </a:t>
            </a:r>
          </a:p>
        </p:txBody>
      </p:sp>
    </p:spTree>
    <p:extLst>
      <p:ext uri="{BB962C8B-B14F-4D97-AF65-F5344CB8AC3E}">
        <p14:creationId xmlns:p14="http://schemas.microsoft.com/office/powerpoint/2010/main" val="125162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B33F0-848D-35D1-D5CF-C059279E5BD1}"/>
              </a:ext>
            </a:extLst>
          </p:cNvPr>
          <p:cNvSpPr txBox="1"/>
          <p:nvPr/>
        </p:nvSpPr>
        <p:spPr>
          <a:xfrm>
            <a:off x="849086" y="568796"/>
            <a:ext cx="6096000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>
                <a:latin typeface="Aptos" panose="020B0004020202020204" pitchFamily="34" charset="0"/>
              </a:rPr>
              <a:t>Checks: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check_legality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check_mv_design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report_global_timing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report_utilization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report_design</a:t>
            </a:r>
            <a:r>
              <a:rPr lang="en-IN" sz="2100" dirty="0">
                <a:latin typeface="Aptos" panose="020B0004020202020204" pitchFamily="34" charset="0"/>
              </a:rPr>
              <a:t> -summary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report_congestion</a:t>
            </a:r>
            <a:r>
              <a:rPr lang="en-IN" sz="2100" dirty="0">
                <a:latin typeface="Aptos" panose="020B0004020202020204" pitchFamily="34" charset="0"/>
              </a:rPr>
              <a:t> -</a:t>
            </a:r>
            <a:r>
              <a:rPr lang="en-IN" sz="2100" dirty="0" err="1">
                <a:latin typeface="Aptos" panose="020B0004020202020204" pitchFamily="34" charset="0"/>
              </a:rPr>
              <a:t>rerun_global_router</a:t>
            </a:r>
            <a:r>
              <a:rPr lang="en-IN" sz="2100" dirty="0">
                <a:latin typeface="Aptos" panose="020B0004020202020204" pitchFamily="34" charset="0"/>
              </a:rPr>
              <a:t> true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report_threshold_voltage_groups</a:t>
            </a:r>
            <a:r>
              <a:rPr lang="en-IN" sz="2100" dirty="0">
                <a:latin typeface="Aptos" panose="020B0004020202020204" pitchFamily="34" charset="0"/>
              </a:rPr>
              <a:t> -</a:t>
            </a:r>
            <a:r>
              <a:rPr lang="en-IN" sz="2100" dirty="0" err="1">
                <a:latin typeface="Aptos" panose="020B0004020202020204" pitchFamily="34" charset="0"/>
              </a:rPr>
              <a:t>nosplit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report_constraints</a:t>
            </a:r>
            <a:r>
              <a:rPr lang="en-IN" sz="2100" dirty="0">
                <a:latin typeface="Aptos" panose="020B0004020202020204" pitchFamily="34" charset="0"/>
              </a:rPr>
              <a:t> -</a:t>
            </a:r>
            <a:r>
              <a:rPr lang="en-IN" sz="2100" dirty="0" err="1">
                <a:latin typeface="Aptos" panose="020B0004020202020204" pitchFamily="34" charset="0"/>
              </a:rPr>
              <a:t>all_violators</a:t>
            </a:r>
            <a:endParaRPr lang="en-IN" sz="2100" dirty="0">
              <a:latin typeface="Aptos" panose="020B0004020202020204" pitchFamily="34" charset="0"/>
            </a:endParaRPr>
          </a:p>
          <a:p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b="1" dirty="0">
                <a:latin typeface="Aptos" panose="020B0004020202020204" pitchFamily="34" charset="0"/>
              </a:rPr>
              <a:t>Errors:</a:t>
            </a:r>
          </a:p>
          <a:p>
            <a:r>
              <a:rPr lang="en-IN" sz="2100" dirty="0">
                <a:latin typeface="Aptos" panose="020B0004020202020204" pitchFamily="34" charset="0"/>
              </a:rPr>
              <a:t>MV design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Add level Shifters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Check UPF/Voltage domains</a:t>
            </a:r>
          </a:p>
          <a:p>
            <a:r>
              <a:rPr lang="en-IN" sz="2100" dirty="0">
                <a:latin typeface="Aptos" panose="020B0004020202020204" pitchFamily="34" charset="0"/>
              </a:rPr>
              <a:t>Legality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Run legalization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Fix placement constraints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050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7D4B-11C3-0DD5-1F3C-5D88B73E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77" y="1303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 err="1">
                <a:latin typeface="Aptos" panose="020B0004020202020204" pitchFamily="34" charset="0"/>
              </a:rPr>
              <a:t>Cts</a:t>
            </a:r>
            <a:r>
              <a:rPr lang="en-IN" sz="5400" dirty="0">
                <a:latin typeface="Aptos" panose="020B0004020202020204" pitchFamily="34" charset="0"/>
              </a:rPr>
              <a:t> (clock tree synthesis)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FEB48-F953-FE93-AEC8-7AAB73304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" r="5549"/>
          <a:stretch>
            <a:fillRect/>
          </a:stretch>
        </p:blipFill>
        <p:spPr>
          <a:xfrm>
            <a:off x="665577" y="2464828"/>
            <a:ext cx="5430423" cy="3513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154B70-9876-2F27-C564-6FBC03C48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8"/>
          <a:stretch>
            <a:fillRect/>
          </a:stretch>
        </p:blipFill>
        <p:spPr>
          <a:xfrm>
            <a:off x="6332262" y="2464828"/>
            <a:ext cx="5633167" cy="3513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B11C25-4274-84C6-9BE2-74DA81997B67}"/>
              </a:ext>
            </a:extLst>
          </p:cNvPr>
          <p:cNvSpPr txBox="1"/>
          <p:nvPr/>
        </p:nvSpPr>
        <p:spPr>
          <a:xfrm>
            <a:off x="741777" y="1303519"/>
            <a:ext cx="105156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Aptos" panose="020B0004020202020204" pitchFamily="34" charset="0"/>
                <a:cs typeface="Times New Roman" panose="02020603050405020304" pitchFamily="18" charset="0"/>
              </a:rPr>
              <a:t>CTS stands for Clock Tree Synthesis. It is the process of building a balanced clock distribution network that delivers the clock signal from the source (PLL or clock pad) to all sequential elements (flip-flops, latches) with minimal skew and controlled insertion delay.</a:t>
            </a:r>
          </a:p>
        </p:txBody>
      </p:sp>
    </p:spTree>
    <p:extLst>
      <p:ext uri="{BB962C8B-B14F-4D97-AF65-F5344CB8AC3E}">
        <p14:creationId xmlns:p14="http://schemas.microsoft.com/office/powerpoint/2010/main" val="160916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D025D-5659-9EA0-BF88-9B5AE68B9D60}"/>
              </a:ext>
            </a:extLst>
          </p:cNvPr>
          <p:cNvSpPr txBox="1"/>
          <p:nvPr/>
        </p:nvSpPr>
        <p:spPr>
          <a:xfrm>
            <a:off x="720634" y="511663"/>
            <a:ext cx="6478089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Aptos" panose="020B0004020202020204" pitchFamily="34" charset="0"/>
              </a:rPr>
              <a:t>PRE CHECKS  CTS Stage </a:t>
            </a:r>
          </a:p>
          <a:p>
            <a:endParaRPr lang="en-US" sz="2100" dirty="0">
              <a:latin typeface="Aptos" panose="020B0004020202020204" pitchFamily="34" charset="0"/>
            </a:endParaRPr>
          </a:p>
          <a:p>
            <a:r>
              <a:rPr lang="en-US" sz="2100" dirty="0" err="1">
                <a:latin typeface="Aptos" panose="020B0004020202020204" pitchFamily="34" charset="0"/>
              </a:rPr>
              <a:t>report_clocks</a:t>
            </a:r>
            <a:endParaRPr lang="en-US" sz="2100" dirty="0">
              <a:latin typeface="Aptos" panose="020B0004020202020204" pitchFamily="34" charset="0"/>
            </a:endParaRPr>
          </a:p>
          <a:p>
            <a:r>
              <a:rPr lang="en-US" sz="2100" dirty="0" err="1">
                <a:latin typeface="Aptos" panose="020B0004020202020204" pitchFamily="34" charset="0"/>
              </a:rPr>
              <a:t>report_clocks</a:t>
            </a:r>
            <a:r>
              <a:rPr lang="en-US" sz="2100" dirty="0">
                <a:latin typeface="Aptos" panose="020B0004020202020204" pitchFamily="34" charset="0"/>
              </a:rPr>
              <a:t> -groups</a:t>
            </a:r>
          </a:p>
          <a:p>
            <a:r>
              <a:rPr lang="en-US" sz="2100" dirty="0" err="1">
                <a:latin typeface="Aptos" panose="020B0004020202020204" pitchFamily="34" charset="0"/>
              </a:rPr>
              <a:t>report_clock_qor</a:t>
            </a:r>
            <a:r>
              <a:rPr lang="en-US" sz="2100" dirty="0">
                <a:latin typeface="Aptos" panose="020B0004020202020204" pitchFamily="34" charset="0"/>
              </a:rPr>
              <a:t> -mode </a:t>
            </a:r>
            <a:r>
              <a:rPr lang="en-US" sz="2100" dirty="0" err="1">
                <a:latin typeface="Aptos" panose="020B0004020202020204" pitchFamily="34" charset="0"/>
              </a:rPr>
              <a:t>func</a:t>
            </a:r>
            <a:endParaRPr lang="en-US" sz="2100" dirty="0">
              <a:latin typeface="Aptos" panose="020B0004020202020204" pitchFamily="34" charset="0"/>
            </a:endParaRPr>
          </a:p>
          <a:p>
            <a:r>
              <a:rPr lang="en-US" sz="2100" dirty="0" err="1">
                <a:latin typeface="Aptos" panose="020B0004020202020204" pitchFamily="34" charset="0"/>
              </a:rPr>
              <a:t>report_clock_qor</a:t>
            </a:r>
            <a:r>
              <a:rPr lang="en-US" sz="2100" dirty="0">
                <a:latin typeface="Aptos" panose="020B0004020202020204" pitchFamily="34" charset="0"/>
              </a:rPr>
              <a:t> -mode test</a:t>
            </a:r>
          </a:p>
          <a:p>
            <a:r>
              <a:rPr lang="en-US" sz="2100" dirty="0" err="1">
                <a:latin typeface="Aptos" panose="020B0004020202020204" pitchFamily="34" charset="0"/>
              </a:rPr>
              <a:t>report_ports</a:t>
            </a:r>
            <a:r>
              <a:rPr lang="en-US" sz="2100" dirty="0">
                <a:latin typeface="Aptos" panose="020B0004020202020204" pitchFamily="34" charset="0"/>
              </a:rPr>
              <a:t> -verbose [</a:t>
            </a:r>
            <a:r>
              <a:rPr lang="en-US" sz="2100" dirty="0" err="1">
                <a:latin typeface="Aptos" panose="020B0004020202020204" pitchFamily="34" charset="0"/>
              </a:rPr>
              <a:t>get_ports</a:t>
            </a:r>
            <a:r>
              <a:rPr lang="en-US" sz="2100" dirty="0">
                <a:latin typeface="Aptos" panose="020B0004020202020204" pitchFamily="34" charset="0"/>
              </a:rPr>
              <a:t> *</a:t>
            </a:r>
            <a:r>
              <a:rPr lang="en-US" sz="2100" dirty="0" err="1">
                <a:latin typeface="Aptos" panose="020B0004020202020204" pitchFamily="34" charset="0"/>
              </a:rPr>
              <a:t>clk</a:t>
            </a:r>
            <a:r>
              <a:rPr lang="en-US" sz="2100" dirty="0">
                <a:latin typeface="Aptos" panose="020B0004020202020204" pitchFamily="34" charset="0"/>
              </a:rPr>
              <a:t>]</a:t>
            </a:r>
          </a:p>
          <a:p>
            <a:endParaRPr lang="en-US" sz="2100" dirty="0">
              <a:latin typeface="Aptos" panose="020B0004020202020204" pitchFamily="34" charset="0"/>
            </a:endParaRPr>
          </a:p>
          <a:p>
            <a:r>
              <a:rPr lang="en-IN" sz="2100" b="1" dirty="0">
                <a:latin typeface="Aptos" panose="020B0004020202020204" pitchFamily="34" charset="0"/>
              </a:rPr>
              <a:t>Post CTS Checks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report_clock_qor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report_clock_qor</a:t>
            </a:r>
            <a:r>
              <a:rPr lang="en-IN" sz="2100" dirty="0">
                <a:latin typeface="Aptos" panose="020B0004020202020204" pitchFamily="34" charset="0"/>
              </a:rPr>
              <a:t> -type area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report_constraints</a:t>
            </a:r>
            <a:r>
              <a:rPr lang="en-IN" sz="2100" dirty="0">
                <a:latin typeface="Aptos" panose="020B0004020202020204" pitchFamily="34" charset="0"/>
              </a:rPr>
              <a:t> -</a:t>
            </a:r>
            <a:r>
              <a:rPr lang="en-IN" sz="2100" dirty="0" err="1">
                <a:latin typeface="Aptos" panose="020B0004020202020204" pitchFamily="34" charset="0"/>
              </a:rPr>
              <a:t>all_violators</a:t>
            </a:r>
            <a:endParaRPr lang="en-IN" sz="2100" dirty="0">
              <a:latin typeface="Aptos" panose="020B0004020202020204" pitchFamily="34" charset="0"/>
            </a:endParaRPr>
          </a:p>
          <a:p>
            <a:endParaRPr lang="en-IN" sz="2100" b="1" dirty="0">
              <a:latin typeface="Aptos" panose="020B0004020202020204" pitchFamily="34" charset="0"/>
            </a:endParaRPr>
          </a:p>
          <a:p>
            <a:r>
              <a:rPr lang="en-IN" sz="2100" b="1" dirty="0">
                <a:latin typeface="Aptos" panose="020B0004020202020204" pitchFamily="34" charset="0"/>
              </a:rPr>
              <a:t>Errors:</a:t>
            </a:r>
          </a:p>
          <a:p>
            <a:r>
              <a:rPr lang="en-IN" sz="2100" dirty="0">
                <a:latin typeface="Aptos" panose="020B0004020202020204" pitchFamily="34" charset="0"/>
              </a:rPr>
              <a:t>Max Cap Violations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Insert more clock buffers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Use high drive strength cells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17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1E7D-A383-3371-D854-FBB103ABA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2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Routing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E69AE-12B9-04B3-D5E9-838B1C423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5"/>
          <a:stretch>
            <a:fillRect/>
          </a:stretch>
        </p:blipFill>
        <p:spPr>
          <a:xfrm>
            <a:off x="2112451" y="2425769"/>
            <a:ext cx="6541692" cy="41148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78DF22-685D-1BF7-BB9D-FB68283FD6B3}"/>
              </a:ext>
            </a:extLst>
          </p:cNvPr>
          <p:cNvSpPr txBox="1"/>
          <p:nvPr/>
        </p:nvSpPr>
        <p:spPr>
          <a:xfrm>
            <a:off x="669471" y="1178883"/>
            <a:ext cx="1085305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Aptos" panose="020B0004020202020204" pitchFamily="34" charset="0"/>
              </a:rPr>
              <a:t>Routing is the process of creating physical interconnections (wires) between placed cells, macros, and I/O pins according to the netlist, while meeting timing, power, and design rule constraints. It transforms logical connectivity into manufacturable wiring patterns.</a:t>
            </a:r>
          </a:p>
        </p:txBody>
      </p:sp>
    </p:spTree>
    <p:extLst>
      <p:ext uri="{BB962C8B-B14F-4D97-AF65-F5344CB8AC3E}">
        <p14:creationId xmlns:p14="http://schemas.microsoft.com/office/powerpoint/2010/main" val="241020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293A2B-D77A-390E-9367-848B2AE03B33}"/>
              </a:ext>
            </a:extLst>
          </p:cNvPr>
          <p:cNvSpPr txBox="1"/>
          <p:nvPr/>
        </p:nvSpPr>
        <p:spPr>
          <a:xfrm>
            <a:off x="781595" y="348526"/>
            <a:ext cx="6096000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>
                <a:latin typeface="Aptos" panose="020B0004020202020204" pitchFamily="34" charset="0"/>
              </a:rPr>
              <a:t>Checks after Routing :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check_routes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check_lvs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check_legality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check_mv_design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report_global_timing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report_utilization</a:t>
            </a:r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dirty="0" err="1">
                <a:latin typeface="Aptos" panose="020B0004020202020204" pitchFamily="34" charset="0"/>
              </a:rPr>
              <a:t>report_design</a:t>
            </a:r>
            <a:r>
              <a:rPr lang="en-IN" sz="2100" dirty="0">
                <a:latin typeface="Aptos" panose="020B0004020202020204" pitchFamily="34" charset="0"/>
              </a:rPr>
              <a:t> -summary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report_threshold_voltage_groups</a:t>
            </a:r>
            <a:r>
              <a:rPr lang="en-IN" sz="2100" dirty="0">
                <a:latin typeface="Aptos" panose="020B0004020202020204" pitchFamily="34" charset="0"/>
              </a:rPr>
              <a:t> –</a:t>
            </a:r>
            <a:r>
              <a:rPr lang="en-IN" sz="2100" dirty="0" err="1">
                <a:latin typeface="Aptos" panose="020B0004020202020204" pitchFamily="34" charset="0"/>
              </a:rPr>
              <a:t>nosplit</a:t>
            </a:r>
            <a:endParaRPr lang="en-IN" sz="2100" dirty="0">
              <a:latin typeface="Aptos" panose="020B0004020202020204" pitchFamily="34" charset="0"/>
            </a:endParaRPr>
          </a:p>
          <a:p>
            <a:endParaRPr lang="en-IN" sz="2100" dirty="0">
              <a:latin typeface="Aptos" panose="020B0004020202020204" pitchFamily="34" charset="0"/>
            </a:endParaRPr>
          </a:p>
          <a:p>
            <a:r>
              <a:rPr lang="en-IN" sz="2100" b="1" dirty="0">
                <a:latin typeface="Aptos" panose="020B0004020202020204" pitchFamily="34" charset="0"/>
              </a:rPr>
              <a:t>Errors:</a:t>
            </a:r>
          </a:p>
          <a:p>
            <a:r>
              <a:rPr lang="en-IN" sz="2100" dirty="0">
                <a:latin typeface="Aptos" panose="020B0004020202020204" pitchFamily="34" charset="0"/>
              </a:rPr>
              <a:t>DRC Violations – Re-route the specific Nets</a:t>
            </a:r>
          </a:p>
          <a:p>
            <a:r>
              <a:rPr lang="en-IN" sz="2100" dirty="0" err="1">
                <a:latin typeface="Aptos" panose="020B0004020202020204" pitchFamily="34" charset="0"/>
              </a:rPr>
              <a:t>Zroute</a:t>
            </a:r>
            <a:r>
              <a:rPr lang="en-IN" sz="2100" dirty="0">
                <a:latin typeface="Aptos" panose="020B0004020202020204" pitchFamily="34" charset="0"/>
              </a:rPr>
              <a:t>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Short errors – Two different nets get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Open errors – Nets is partially routed or disconnected</a:t>
            </a:r>
          </a:p>
          <a:p>
            <a:r>
              <a:rPr lang="en-IN" sz="2100" dirty="0">
                <a:latin typeface="Aptos" panose="020B0004020202020204" pitchFamily="34" charset="0"/>
              </a:rPr>
              <a:t>Routing Congestion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Increase Routing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Aptos" panose="020B0004020202020204" pitchFamily="34" charset="0"/>
              </a:rPr>
              <a:t>Adjusting routing guides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194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1294</TotalTime>
  <Words>1051</Words>
  <Application>Microsoft Office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Segoe UI Black</vt:lpstr>
      <vt:lpstr>Verdana</vt:lpstr>
      <vt:lpstr>Office 2013 - 2022 Theme</vt:lpstr>
      <vt:lpstr>ORCA_TOP 32nm — Place &amp; Route</vt:lpstr>
      <vt:lpstr>PowerPoint Presentation</vt:lpstr>
      <vt:lpstr>Introduction to PnR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placement</vt:lpstr>
      <vt:lpstr>PowerPoint Presentation</vt:lpstr>
      <vt:lpstr>Cts (clock tree synthesis)</vt:lpstr>
      <vt:lpstr>PowerPoint Presentation</vt:lpstr>
      <vt:lpstr>Routing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Sai</dc:creator>
  <cp:lastModifiedBy>Krishna Sai</cp:lastModifiedBy>
  <cp:revision>24</cp:revision>
  <dcterms:created xsi:type="dcterms:W3CDTF">2026-04-30T06:31:28Z</dcterms:created>
  <dcterms:modified xsi:type="dcterms:W3CDTF">2026-05-13T02:06:14Z</dcterms:modified>
</cp:coreProperties>
</file>